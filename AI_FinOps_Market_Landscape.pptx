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91695" cy="13716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"/>
            <a:ext cx="822960" cy="822960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0" y="1371600"/>
            <a:ext cx="457200" cy="457200"/>
          </a:xfrm>
          <a:prstGeom prst="ellipse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AI FinOps: Market Landscape &amp; Whitespace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F2FD"/>
                </a:solidFill>
                <a:latin typeface="Calibri"/>
              </a:defRPr>
            </a:pPr>
            <a:r>
              <a:t>Telemetry  ·  Governance  ·  Metrics  · 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EFB"/>
                </a:solidFill>
                <a:latin typeface="Calibri"/>
              </a:defRPr>
            </a:pPr>
            <a:r>
              <a:t>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572000"/>
            <a:ext cx="1645920" cy="73152"/>
          </a:xfrm>
          <a:prstGeom prst="rect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4572000"/>
            <a:ext cx="914400" cy="7315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400"/>
              </a:spcBef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AI spending is growing exponentially — LLM API costs, GPU compute, model training and inference are becoming major budget line items.</a:t>
            </a:r>
          </a:p>
          <a:p>
            <a:pPr algn="l">
              <a:spcBef>
                <a:spcPts val="1400"/>
              </a:spcBef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Traditional FinOps tools were built for cloud infrastructure, not AI-specific workloads. They lack token-level visibility, model-aware governance, and AI ROI attribution.</a:t>
            </a:r>
          </a:p>
          <a:p>
            <a:pPr algn="l">
              <a:spcBef>
                <a:spcPts val="1400"/>
              </a:spcBef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Four critical capability areas define AI FinOps maturity: Telemetry Capture, Quota &amp; Access Enforcement, Metrics (Usage &amp; ROI), and Reporting &amp; Actionable Insights.</a:t>
            </a:r>
          </a:p>
          <a:p>
            <a:pPr algn="l">
              <a:spcBef>
                <a:spcPts val="1400"/>
              </a:spcBef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Significant whitespace exists, especially in unified platforms that address all four areas for AI workloads. No incumbent covers the full landscape.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Key Insight: The AI FinOps market is where cloud FinOps was in 2018 — fragmented, immature, and ripe for a platform play.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AI FinOps Framework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20640" cy="2194560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645920"/>
            <a:ext cx="548640" cy="54864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645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237E"/>
                </a:solidFill>
                <a:latin typeface="Calibri"/>
              </a:defRPr>
            </a:pPr>
            <a:r>
              <a:t>Telemetry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9456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Token usage, model calls,</a:t>
            </a:r>
            <a:br/>
            <a:r>
              <a:t>latency, GPU utilization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120640" cy="2194560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0" y="1645920"/>
            <a:ext cx="548640" cy="548640"/>
          </a:xfrm>
          <a:prstGeom prst="ellipse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645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237E"/>
                </a:solidFill>
                <a:latin typeface="Calibri"/>
              </a:defRPr>
            </a:pPr>
            <a:r>
              <a:t>Quota &amp; Access Enforcement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9456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Budgets, rate limits,</a:t>
            </a:r>
            <a:br/>
            <a:r>
              <a:t>access policies, model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120640" cy="2194560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4206240"/>
            <a:ext cx="548640" cy="548640"/>
          </a:xfrm>
          <a:prstGeom prst="ellipse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206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237E"/>
                </a:solidFill>
                <a:latin typeface="Calibri"/>
              </a:defRPr>
            </a:pPr>
            <a:r>
              <a:t>Metrics – Usage &amp;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7548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Cost per query, cost per outcome,</a:t>
            </a:r>
            <a:br/>
            <a:r>
              <a:t>unit economics, ROI attribution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120640" cy="2194560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0" y="4206240"/>
            <a:ext cx="548640" cy="548640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206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237E"/>
                </a:solidFill>
                <a:latin typeface="Calibri"/>
              </a:defRPr>
            </a:pPr>
            <a:r>
              <a:t>Reporting &amp; Actionable Insights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7548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Dashboards, alerts, optimization</a:t>
            </a:r>
            <a:br/>
            <a:r>
              <a:t>recommendations, forecasting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2240280"/>
            <a:ext cx="457200" cy="10972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52160" y="4800600"/>
            <a:ext cx="457200" cy="10972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89320" y="3566160"/>
            <a:ext cx="109728" cy="36576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Telemetry Capture – What It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Token-level tracking (input/output tokens per request)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Model/provider attribution (which model, which provider, which team)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Latency and throughput metrics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GPU/compute utilization for self-hosted models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Embedding and vector DB query tracking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Data pipeline and training run cost capture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21440" y="1188720"/>
            <a:ext cx="109728" cy="45720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Telemetry Capture – Market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51560"/>
          <a:ext cx="107899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Solution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Helicone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Open-source LLM proxy, excellent token tracking, provider-agnostic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GPU/training cost capture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Portkey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gateway with built-in telemetry, multi-provider routing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Limited self-hosted model support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LangSmith (LangChain)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Deep tracing for LangChain apps, chain-level cost tracking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Vendor lock-in to LangChain ecosystem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Weights &amp; Biases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Strong experiment tracking, GPU utilization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Inference cost tracking is weak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LiteLLM Proxy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Unified proxy for 100+ LLMs, request logging, spend tracking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Telemetry depth limited to proxy layer; no GPU/training metrics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Langfuse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Open-source LLM observability, detailed tracing, cost tracking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Self-hosted complexity; limited cloud-provider compute telemetry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Cloudflare AI Gateway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Edge-level logging, caching, provider-agnostic proxy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Shallow token metrics; no training/GPU cost capture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Datadog LLM Observability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Enterprise APM integration, trace-level LLM metrics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Requires Datadog stack; limited standalone AI telemetry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Braintrust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Eval-centric tracing, prompt playground, cost per eval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Focused on evals; limited production inference telemetry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OpenTelemetry + custom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Flexible, open standard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Requires heavy custom engineering for AI-specific metrics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Cloud-native (AWS/Azure/GCP)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Good compute-level telemetry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token-level or model-level granularity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806440"/>
            <a:ext cx="10789920" cy="640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Overall: Market is fragmented. No single solution captures telemetry across training, inference, and API costs holistically.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Quota &amp; Access Enforcement – What It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Per-team/per-user budget caps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Rate limiting (requests per minute, tokens per day)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Model access policies (who can use GPT-4 vs GPT-3.5)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Provider routing rules (cost-based, performance-based)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Approval workflows for expensive model usage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Compliance and data governance (PII, data residency)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21440" y="1188720"/>
            <a:ext cx="109728" cy="45720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Quota &amp; Access Enforcement – Market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51560"/>
          <a:ext cx="107899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Solution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Portkey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API-level rate limiting, budget alerts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approval workflows, limited RBAC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Helicone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Basic rate limiting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quota management or access policies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LiteLLM Proxy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Budget limits per key/user, model access controls, spend alerts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approval workflows; RBAC is key-based, not enterprise IAM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Langfuse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native enforcement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Observability-only; no quota, rate-limit, or governance features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Cloudflare AI Gateway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Rate limiting at edge, caching policies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budget caps, no model-level RBAC or approval workflows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Datadog LLM Observability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Alerting on anomalous usage patterns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Monitoring-only; no enforcement, no quota or access policies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Braintrust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Org-level access controls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rate limiting, no budget enforcement, no policy engine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Token-per-minute quotas, RBAC via Azure AD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Azure-only, no multi-provider support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AWS Bedrock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IAM-based access, model-level permissions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AWS-only, no budget-based enforcement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Kong / Apigee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Strong rate limiting, authentication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 AI-aware, no token-based quotas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Custom solutions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Many enterprises building in-house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 maintenance, inconsistent implementation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806440"/>
            <a:ext cx="10789920" cy="7772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424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Overall: This is the WEAKEST area in the market. No solution provides comprehensive AI-specific quota management with budget enforcement, approval workflows, and multi-provider RBAC.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Metrics (Usage &amp; ROI) – What It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Cost per query / cost per conversation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Cost per business outcome (e.g., cost per ticket resolved, cost per document processed)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Model cost comparison (same task, different models)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Unit economics trending over time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ROI attribution by use case / department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Waste identification (unused provisioned capacity, over-provisioned models)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21440" y="1188720"/>
            <a:ext cx="109728" cy="45720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Metrics (Usage &amp; ROI) – Market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51560"/>
          <a:ext cx="107899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Solution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Kubecost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Excellent Kubernetes cost allocation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AI/LLM-specific unit economics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Vantage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Multi-cloud cost visibility, good dashboards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token-level cost attribution, no ROI metrics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Apptio / IBM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Enterprise TBM, IT financial management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AI workload awareness, slow to adapt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Harness CCM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Cloud cost management with recommendations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Limited AI-specific metrics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LiteLLM Proxy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Per-key spend tracking, model cost comparison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ROI attribution, no business outcome mapping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Langfuse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Cost per trace/generation, model cost breakdown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ROI attribution, no unit economics trending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Cloudflare AI Gateway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Request-level cost logging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cost aggregation, no ROI or unit economics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Datadog LLM Observability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Cost metrics within APM dashboards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AI-specific ROI; requires Datadog ecosystem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Braintrust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Cost per eval, model comparison scoring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Eval-focused; no production ROI or business outcome metrics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Helicone / Portkey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Basic cost tracking per request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ROI attribution, no business outcome correlation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Weights &amp; Biases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Experiment cost tracking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business ROI, training-focused only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806440"/>
            <a:ext cx="10789920" cy="640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Overall: Major gap in connecting AI costs to business outcomes. No solution provides ROI attribution or unit economics at the AI workload level.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Reporting &amp; Actionable Insights – What It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Executive dashboards (total AI spend, trends, forecasts)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Team/project-level cost breakdowns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Anomaly detection and alerting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Optimization recommendations (model downsizing, caching, prompt optimization)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Forecasting and budget planning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Chargeback/showback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21440" y="1188720"/>
            <a:ext cx="109728" cy="45720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Reporting &amp; Actionable Insights – Market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51560"/>
          <a:ext cx="107899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Solution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Vantage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Strong dashboards, multi-cloud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AI-specific recommendations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CloudHealth (VMware)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Mature reporting, chargeback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AI workload visibility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Kubecost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K8s cost reports, alerts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AI optimization recommendations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Portkey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Basic usage dashboards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forecasting, limited actionable insights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Helicone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Request-level analytics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executive reporting, no optimization suggestions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LiteLLM Proxy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Spend dashboards, usage logs per key/model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forecasting, no optimization engine, no chargeback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Langfuse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Trace-level dashboards, cost breakdowns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executive reporting, no forecasting or anomaly detection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Cloudflare AI Gateway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Basic analytics dashboard, caching stats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optimization recommendations, no chargeback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Datadog LLM Observability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Enterprise dashboards, alerting, anomaly detection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AI-specific optimization; generic APM recommendations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Braintrust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 result dashboards, model comparison reports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cost forecasting, no chargeback, eval-scoped only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Cast AI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Automated K8s optimization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Compute-only, no AI/LLM awareness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806440"/>
            <a:ext cx="10789920" cy="640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Overall: Traditional FinOps tools have strong reporting but zero AI awareness. AI-native tools have basic dashboards but lack mature reporting, forecasting, and optimization engines.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Competitive Landscape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51560"/>
          <a:ext cx="10058400" cy="5129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45920"/>
                <a:gridCol w="1828800"/>
                <a:gridCol w="1828800"/>
                <a:gridCol w="164592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Solution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Telemetry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Quota &amp; Access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Metrics (ROI)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42A5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Helicone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Portkey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LangSmith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Weights &amp; Biases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LiteLLM Proxy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Langfuse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Cloudflare AI GW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Datadog LLM Obs.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Braintrust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Kubecost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Vantage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Apptio / IBM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Harness CCM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CloudHealth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Cast AI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defRPr b="1" sz="1000">
                          <a:solidFill>
                            <a:srgbClr val="1A237E"/>
                          </a:solidFill>
                          <a:latin typeface="Calibri"/>
                        </a:defRPr>
                      </a:pPr>
                      <a:r>
                        <a:t>Azure / AWS Native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0"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t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309360"/>
            <a:ext cx="10789920" cy="457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276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Scores: 1 (No capability) to 5 (Best-in-class). No solution scores above 3 in all four areas. The market lacks a unified AI FinOps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Scale: 1 = No capability  |  3 = Adequate  |  5 = Best-in-class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Whitespace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457200" cy="4572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43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237E"/>
                </a:solidFill>
                <a:latin typeface="Calibri"/>
              </a:defRPr>
            </a:pPr>
            <a:r>
              <a:t>Unified AI Cost Telemetry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0876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Single SDK/proxy that captures token costs, GPU costs, training costs, and API costs across all providers and self-hosted models.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40280"/>
            <a:ext cx="457200" cy="4572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94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237E"/>
                </a:solidFill>
                <a:latin typeface="Calibri"/>
              </a:defRPr>
            </a:pPr>
            <a:r>
              <a:t>AI-Native Quota &amp; Governance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6032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Budget-based enforcement with approval workflows, model-level RBAC, and policy-as-code for AI resources. This is the biggest gap.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291840"/>
            <a:ext cx="457200" cy="4572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46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237E"/>
                </a:solidFill>
                <a:latin typeface="Calibri"/>
              </a:defRPr>
            </a:pPr>
            <a:r>
              <a:t>AI ROI Attribution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1188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Connect AI costs to business KPIs (tickets resolved, revenue generated, documents processed). No one does this well.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399"/>
            <a:ext cx="457200" cy="457200"/>
          </a:xfrm>
          <a:prstGeom prst="rect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976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237E"/>
                </a:solidFill>
                <a:latin typeface="Calibri"/>
              </a:defRPr>
            </a:pPr>
            <a:r>
              <a:t>Intelligent Optimization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63439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AI-powered recommendations for model selection, prompt optimization, caching strategies, and right-sizing.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800" b="1">
                <a:solidFill>
                  <a:srgbClr val="1A237E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49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237E"/>
                </a:solidFill>
                <a:latin typeface="Calibri"/>
              </a:defRPr>
            </a:pPr>
            <a:r>
              <a:t>AI Chargeback &amp; Showback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1500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Enterprise-grade departmental cost allocation specifically designed for shared AI infrastructure and API costs.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Recommended Whitespace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1280160"/>
            <a:ext cx="4846320" cy="5943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0" y="13716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AI FinOps Control Plane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4206240" cy="731520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031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Layer 1 –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048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Universal collector (proxy + SDK) for all AI workloads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926080"/>
            <a:ext cx="4206240" cy="731520"/>
          </a:xfrm>
          <a:prstGeom prst="rect">
            <a:avLst/>
          </a:prstGeom>
          <a:solidFill>
            <a:srgbClr val="64B5F6"/>
          </a:solidFill>
          <a:ln w="1270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9718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Layer 2 –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7355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Policy engine with quotas, RBAC, approvals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794760"/>
            <a:ext cx="4206240" cy="731520"/>
          </a:xfrm>
          <a:prstGeom prst="rect">
            <a:avLst/>
          </a:prstGeom>
          <a:solidFill>
            <a:srgbClr val="90CAF9"/>
          </a:solidFill>
          <a:ln w="1270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8404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237E"/>
                </a:solidFill>
                <a:latin typeface="Calibri"/>
              </a:defRPr>
            </a:pPr>
            <a:r>
              <a:t>Layer 3 –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1422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237E"/>
                </a:solidFill>
                <a:latin typeface="Calibri"/>
              </a:defRPr>
            </a:pPr>
            <a:r>
              <a:t>Cost allocation, ROI attribution, unit economics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4663439"/>
            <a:ext cx="4206240" cy="731520"/>
          </a:xfrm>
          <a:prstGeom prst="rect">
            <a:avLst/>
          </a:prstGeom>
          <a:solidFill>
            <a:srgbClr val="BBDEFB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709159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237E"/>
                </a:solidFill>
                <a:latin typeface="Calibri"/>
              </a:defRPr>
            </a:pPr>
            <a:r>
              <a:t>Layer 4 –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010911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237E"/>
                </a:solidFill>
                <a:latin typeface="Calibri"/>
              </a:defRPr>
            </a:pPr>
            <a:r>
              <a:t>Optimization recommendations, forecasting, anomaly detection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057400"/>
            <a:ext cx="5303520" cy="3474720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103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Calibri"/>
              </a:defRPr>
            </a:pPr>
            <a:r>
              <a:t>Integrations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606040"/>
            <a:ext cx="137160" cy="41148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LLM Providers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346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OpenAI, Anthropic, Google, Cohere, Mistral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46120"/>
            <a:ext cx="137160" cy="41148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461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Cloud Platforms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4747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AWS, Azure, GCP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137160" cy="41148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8862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Orchestration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148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LangChain, LlamaIndex, Semantic Kernel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526279"/>
            <a:ext cx="137160" cy="41148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526279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754879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Kubernetes, GPU clusters, vLLM, TGI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5852160"/>
            <a:ext cx="10149840" cy="640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589788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237E"/>
                </a:solidFill>
                <a:latin typeface="Calibri"/>
              </a:defRPr>
            </a:pPr>
            <a:r>
              <a:t>Differentiation: "The only platform purpose-built for AI workload financial operations across the full lifecycle."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28600"/>
            <a:ext cx="109728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88E5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64240" cy="25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325880"/>
            <a:ext cx="502920" cy="5029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280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Calibri"/>
              </a:defRPr>
            </a:pPr>
            <a:r>
              <a:t>Validate whitespace hypotheses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2763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Conduct customer interviews (target: 15–20 enterprise AI teams)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860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Calibri"/>
              </a:defRPr>
            </a:pPr>
            <a:r>
              <a:t>Build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Focus on Telemetry + Quota Enforcement (biggest pain, weakest market coverage)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337560"/>
            <a:ext cx="502920" cy="502920"/>
          </a:xfrm>
          <a:prstGeom prst="ellipse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2918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Calibri"/>
              </a:defRPr>
            </a:pPr>
            <a:r>
              <a:t>Design integration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63931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Prioritize top 5 LLM providers for Day-1 support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343400"/>
            <a:ext cx="502920" cy="502920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976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Calibri"/>
              </a:defRPr>
            </a:pPr>
            <a:r>
              <a:t>Develop pricing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4515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Usage-based pricing tied to AI spend managed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349240"/>
            <a:ext cx="502920" cy="502920"/>
          </a:xfrm>
          <a:prstGeom prst="ellipse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1A237E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303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Calibri"/>
              </a:defRPr>
            </a:pPr>
            <a:r>
              <a:t>Target launch timeline &amp; GTM 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6509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Define go-to-market approach and launch milestones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00800"/>
            <a:ext cx="1106424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